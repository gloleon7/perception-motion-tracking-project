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76" r:id="rId4"/>
    <p:sldId id="274" r:id="rId5"/>
    <p:sldId id="257" r:id="rId6"/>
    <p:sldId id="259" r:id="rId7"/>
    <p:sldId id="258" r:id="rId8"/>
    <p:sldId id="260" r:id="rId9"/>
    <p:sldId id="267" r:id="rId10"/>
    <p:sldId id="268" r:id="rId11"/>
    <p:sldId id="269" r:id="rId12"/>
    <p:sldId id="262" r:id="rId13"/>
    <p:sldId id="263" r:id="rId14"/>
    <p:sldId id="271" r:id="rId15"/>
    <p:sldId id="270" r:id="rId16"/>
    <p:sldId id="26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40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objetivo: comparar dos métodos clásicos de estimación de movimiento en vídeo, usando datos sintéticos y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146E-61C6-11B5-A231-57A3E9B6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42725-63E3-CD26-6720-B589DF8FD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30235-BF86-6522-18BC-93D75E6BF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proyecto compara robustez ante condiciones que aparecen en escenas reales: ruido, luz y velocidad.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C6265-2D15-0FFF-9372-B1CDF38F6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83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91617-8A31-89B9-DE5B-4A4A72FC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9B6D1-B20E-8647-C73D-FB8FB3AF4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1FE34-4D00-97C5-06FA-103F23998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proyecto compara robustez ante condiciones que aparecen en escenas reales: ruido, luz y velocidad.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03499-F742-2AA5-B7B8-5FDACC78B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48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proyecto compara robustez ante condiciones que aparecen en escenas reales: ruido, luz y velocidad.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el dataset está diseñado para comparar condiciones, no para entrenar un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 arquitectura de trabajo: generación, procesado, métricas y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una diferencia simple: una técnica mira cambios de región y la otra sigue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sintéticos sirven como banco controlado. El caso rápido eleva el desplazamiento, lo cual es coherente.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reales, LK mantiene mediana baja en todos los escenarios. Es el resultado más claro para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reales, LK mantiene mediana baja en todos los escenarios. Es el resultado más claro para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9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97DA-DCCF-BA38-7CE4-A36A826A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4752B-A0F8-297A-C644-1251B2736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EF3DC-29D2-AD30-0BB4-ADFA09E78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reales, LK mantiene mediana baja en todos los escenarios. Es el resultado más claro para presentar.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94F9C-4983-2F05-1664-1A36E59007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76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comparar no es buscar un ganador absoluto. La mejora natural sería combinar ambos métodos.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6.mp4"/><Relationship Id="rId7" Type="http://schemas.openxmlformats.org/officeDocument/2006/relationships/image" Target="../media/image6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6.mp4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abstract_3d_visualization_sci_fi_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94360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Seguimiento visual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objetos móviles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94944" y="20665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6D6FF"/>
                </a:solidFill>
              </a:rPr>
              <a:t>Diferencia de imágenes vs. Lucas-Kanade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13232" y="5806440"/>
            <a:ext cx="320040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39BDF8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77824" y="5934456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EAF6FF"/>
                </a:solidFill>
              </a:rPr>
              <a:t>Percepción en Automática y Robótica · 10 min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66D79-EF27-AC59-19F3-3A084454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8A2118-3334-2E72-1E60-BD8204151163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9A0216-C8FC-3E16-0462-1DAA0926ADB0}"/>
              </a:ext>
            </a:extLst>
          </p:cNvPr>
          <p:cNvSpPr/>
          <p:nvPr/>
        </p:nvSpPr>
        <p:spPr>
          <a:xfrm>
            <a:off x="11384280" y="64465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6699CC"/>
                </a:solidFill>
              </a:rPr>
              <a:t>02</a:t>
            </a:r>
          </a:p>
        </p:txBody>
      </p:sp>
      <p:pic>
        <p:nvPicPr>
          <p:cNvPr id="11" name="Imagen 10" descr="Imagen que contiene exterior, edificio, verde, fuego&#10;&#10;El contenido generado por IA puede ser incorrecto.">
            <a:extLst>
              <a:ext uri="{FF2B5EF4-FFF2-40B4-BE49-F238E27FC236}">
                <a16:creationId xmlns:a16="http://schemas.microsoft.com/office/drawing/2014/main" id="{D03A4202-0C57-9B75-9487-C18639F12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4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E2274-52CD-FCD4-074C-CD93740F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277459-AA22-99D4-A377-EBBBDCC9F62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6B06CE-CE48-B9BB-BA3B-42ECB9E47B2A}"/>
              </a:ext>
            </a:extLst>
          </p:cNvPr>
          <p:cNvSpPr/>
          <p:nvPr/>
        </p:nvSpPr>
        <p:spPr>
          <a:xfrm>
            <a:off x="11384280" y="64465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6699CC"/>
                </a:solidFill>
              </a:rPr>
              <a:t>02</a:t>
            </a:r>
          </a:p>
        </p:txBody>
      </p:sp>
      <p:pic>
        <p:nvPicPr>
          <p:cNvPr id="11" name="Imagen 10" descr="Imagen que contiene exterior, edificio, verde, fuego&#10;&#10;El contenido generado por IA puede ser incorrecto.">
            <a:extLst>
              <a:ext uri="{FF2B5EF4-FFF2-40B4-BE49-F238E27FC236}">
                <a16:creationId xmlns:a16="http://schemas.microsoft.com/office/drawing/2014/main" id="{5C321B97-A995-6BAE-84B3-AC6CC1B86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3490" y="1892808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8082" y="2057399"/>
            <a:ext cx="438912" cy="438912"/>
          </a:xfrm>
          <a:prstGeom prst="ellipse">
            <a:avLst/>
          </a:prstGeom>
          <a:solidFill>
            <a:srgbClr val="12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814" y="2153412"/>
            <a:ext cx="1645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" name="TextBox 10"/>
          <p:cNvSpPr txBox="1"/>
          <p:nvPr/>
        </p:nvSpPr>
        <p:spPr>
          <a:xfrm>
            <a:off x="1073297" y="20299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61C34"/>
                </a:solidFill>
                <a:latin typeface="Aptos"/>
              </a:defRPr>
            </a:pPr>
            <a:r>
              <a:t>Detectar actividad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297" y="234086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394A63"/>
                </a:solidFill>
                <a:latin typeface="Aptos"/>
              </a:defRPr>
            </a:pPr>
            <a:r>
              <a:t>Se identifica que algo cambia en la escena.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490" y="2715768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8082" y="2880360"/>
            <a:ext cx="438912" cy="438912"/>
          </a:xfrm>
          <a:prstGeom prst="ellipse">
            <a:avLst/>
          </a:prstGeom>
          <a:solidFill>
            <a:srgbClr val="3C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814" y="2976372"/>
            <a:ext cx="1645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3297" y="28529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61C34"/>
                </a:solidFill>
                <a:latin typeface="Aptos"/>
              </a:defRPr>
            </a:pPr>
            <a:r>
              <a:t>Medir movimiento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3297" y="316382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394A63"/>
                </a:solidFill>
                <a:latin typeface="Aptos"/>
              </a:defRPr>
            </a:pPr>
            <a:r>
              <a:t>Se estima cómo se desplaza entre fotogramas.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490" y="3538728"/>
            <a:ext cx="4800600" cy="713232"/>
          </a:xfrm>
          <a:prstGeom prst="roundRect">
            <a:avLst/>
          </a:prstGeom>
          <a:solidFill>
            <a:srgbClr val="DFF2FC"/>
          </a:solidFill>
          <a:ln w="12700"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8082" y="3703320"/>
            <a:ext cx="438912" cy="438912"/>
          </a:xfrm>
          <a:prstGeom prst="ellipse">
            <a:avLst/>
          </a:prstGeom>
          <a:solidFill>
            <a:srgbClr val="23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814" y="3799332"/>
            <a:ext cx="1645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3297" y="36758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61C34"/>
                </a:solidFill>
                <a:latin typeface="Aptos"/>
              </a:defRPr>
            </a:pPr>
            <a:r>
              <a:t>Lanzar acción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3297" y="3986784"/>
            <a:ext cx="3840480" cy="256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394A63"/>
                </a:solidFill>
                <a:latin typeface="Aptos"/>
              </a:defRPr>
            </a:pPr>
            <a:r>
              <a:rPr lang="es-ES" dirty="0"/>
              <a:t>G</a:t>
            </a:r>
            <a:r>
              <a:rPr dirty="0" err="1"/>
              <a:t>uardado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 del </a:t>
            </a:r>
            <a:r>
              <a:rPr dirty="0" err="1"/>
              <a:t>fragmento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6558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2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1C34"/>
                </a:solidFill>
                <a:latin typeface="Aptos Display"/>
              </a:defRPr>
            </a:pPr>
            <a:r>
              <a:t>Del ejemplo real al experimento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331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847088"/>
            <a:ext cx="530352" cy="530352"/>
          </a:xfrm>
          <a:prstGeom prst="ellipse">
            <a:avLst/>
          </a:prstGeom>
          <a:solidFill>
            <a:srgbClr val="12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3564" y="1961388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1C34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90288"/>
            <a:ext cx="1554480" cy="310896"/>
          </a:xfrm>
          <a:prstGeom prst="roundRect">
            <a:avLst/>
          </a:prstGeom>
          <a:solidFill>
            <a:srgbClr val="EBF6FF"/>
          </a:solidFill>
          <a:ln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4654296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269D2"/>
                </a:solidFill>
                <a:latin typeface="Aptos"/>
              </a:defRPr>
            </a:pPr>
            <a:r>
              <a:t>validación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00200"/>
            <a:ext cx="2331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49039" y="1847088"/>
            <a:ext cx="530352" cy="530352"/>
          </a:xfrm>
          <a:prstGeom prst="ellipse">
            <a:avLst/>
          </a:prstGeom>
          <a:solidFill>
            <a:srgbClr val="3C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8204" y="1961388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70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1C34"/>
                </a:solidFill>
                <a:latin typeface="Aptos"/>
              </a:defRPr>
            </a:pPr>
            <a:r>
              <a:t>Ruido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590288"/>
            <a:ext cx="1554480" cy="310896"/>
          </a:xfrm>
          <a:prstGeom prst="roundRect">
            <a:avLst/>
          </a:prstGeom>
          <a:solidFill>
            <a:srgbClr val="EBF6FF"/>
          </a:solidFill>
          <a:ln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67912" y="4654296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269D2"/>
                </a:solidFill>
                <a:latin typeface="Aptos"/>
              </a:defRPr>
            </a:pPr>
            <a:r>
              <a:t>robustez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00200"/>
            <a:ext cx="2331720" cy="3566160"/>
          </a:xfrm>
          <a:prstGeom prst="roundRect">
            <a:avLst/>
          </a:prstGeom>
          <a:solidFill>
            <a:srgbClr val="DFF2FC"/>
          </a:solidFill>
          <a:ln w="12700"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83680" y="1847088"/>
            <a:ext cx="530352" cy="530352"/>
          </a:xfrm>
          <a:prstGeom prst="ellipse">
            <a:avLst/>
          </a:prstGeom>
          <a:solidFill>
            <a:srgbClr val="FFC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52844" y="1961388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70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1C34"/>
                </a:solidFill>
                <a:latin typeface="Aptos"/>
              </a:defRPr>
            </a:pPr>
            <a:r>
              <a:t>Cambio de luz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590288"/>
            <a:ext cx="1554480" cy="310896"/>
          </a:xfrm>
          <a:prstGeom prst="roundRect">
            <a:avLst/>
          </a:prstGeom>
          <a:solidFill>
            <a:srgbClr val="EBF6FF"/>
          </a:solidFill>
          <a:ln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02552" y="4654296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269D2"/>
                </a:solidFill>
                <a:latin typeface="Aptos"/>
              </a:defRPr>
            </a:pPr>
            <a:r>
              <a:t>falsos cambios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600200"/>
            <a:ext cx="2331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0" y="1847088"/>
            <a:ext cx="530352" cy="530352"/>
          </a:xfrm>
          <a:prstGeom prst="ellipse">
            <a:avLst/>
          </a:prstGeom>
          <a:solidFill>
            <a:srgbClr val="F0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87484" y="1961388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670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1C34"/>
                </a:solidFill>
                <a:latin typeface="Aptos"/>
              </a:defRPr>
            </a:pPr>
            <a:r>
              <a:t>Movimiento rápido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4590288"/>
            <a:ext cx="1554480" cy="310896"/>
          </a:xfrm>
          <a:prstGeom prst="roundRect">
            <a:avLst/>
          </a:prstGeom>
          <a:solidFill>
            <a:srgbClr val="EBF6FF"/>
          </a:solidFill>
          <a:ln>
            <a:solidFill>
              <a:srgbClr val="B9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37192" y="4654296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269D2"/>
                </a:solidFill>
                <a:latin typeface="Aptos"/>
              </a:defRPr>
            </a:pPr>
            <a:r>
              <a:t>límite del método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190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D9AC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6699CC"/>
                </a:solidFill>
              </a:rPr>
              <a:t>02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 percepción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movimiento en vídeo no es lo mismo que entender qué objeto se mueve.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86384" y="3456432"/>
            <a:ext cx="2633472" cy="3017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41248" y="3538728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Vídeo de entrada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9160" y="182880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4764024" y="3456432"/>
            <a:ext cx="2633472" cy="301752"/>
          </a:xfrm>
          <a:prstGeom prst="rect">
            <a:avLst/>
          </a:prstGeom>
          <a:solidFill>
            <a:srgbClr val="1479D6"/>
          </a:solidFill>
          <a:ln w="12700">
            <a:solidFill>
              <a:srgbClr val="1479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4818888" y="3538728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Condiciones reales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686800" y="182880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1"/>
          <p:cNvSpPr/>
          <p:nvPr/>
        </p:nvSpPr>
        <p:spPr>
          <a:xfrm>
            <a:off x="8741664" y="3456432"/>
            <a:ext cx="2633472" cy="301752"/>
          </a:xfrm>
          <a:prstGeom prst="rect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8796528" y="3538728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Movimiento medido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611880" y="2834640"/>
            <a:ext cx="960120" cy="0"/>
          </a:xfrm>
          <a:prstGeom prst="line">
            <a:avLst/>
          </a:prstGeom>
          <a:noFill/>
          <a:ln w="27940">
            <a:solidFill>
              <a:srgbClr val="1479D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4"/>
          <p:cNvSpPr/>
          <p:nvPr/>
        </p:nvSpPr>
        <p:spPr>
          <a:xfrm>
            <a:off x="7589520" y="2834640"/>
            <a:ext cx="960120" cy="0"/>
          </a:xfrm>
          <a:prstGeom prst="line">
            <a:avLst/>
          </a:prstGeom>
          <a:noFill/>
          <a:ln w="27940">
            <a:solidFill>
              <a:srgbClr val="1479D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5"/>
          <p:cNvSpPr/>
          <p:nvPr/>
        </p:nvSpPr>
        <p:spPr>
          <a:xfrm>
            <a:off x="91440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3CE"/>
                </a:solidFill>
              </a:rPr>
              <a:t>Pregunta central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4992624"/>
            <a:ext cx="9784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1B33"/>
                </a:solidFill>
              </a:rPr>
              <a:t>¿Qué método mantiene una estimación más estable cuando cambian luz, ruido o velocidad?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6699CC"/>
                </a:solidFill>
              </a:rPr>
              <a:t>04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propio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3CE"/>
                </a:solidFill>
              </a:rPr>
              <a:t>Sintético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2 objetos · 4 condiciones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0" y="1234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3CE"/>
                </a:solidFill>
              </a:rPr>
              <a:t>Real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2 tomas por escenario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071B33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69264" y="229514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508760" y="2404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Limpio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0574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0D4F8B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438144" y="2295144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977640" y="2404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Ruido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071B33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969264" y="362102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508760" y="37307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Luz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383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0D4F8B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438144" y="3621024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977640" y="37307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Rápido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920240"/>
            <a:ext cx="22402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5E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6455664" y="2889504"/>
            <a:ext cx="2130552" cy="3017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6510528" y="2971800"/>
            <a:ext cx="2020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915400" y="1920240"/>
            <a:ext cx="22402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5E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4"/>
          <p:cNvSpPr/>
          <p:nvPr/>
        </p:nvSpPr>
        <p:spPr>
          <a:xfrm>
            <a:off x="8970264" y="2889504"/>
            <a:ext cx="2130552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9025128" y="2971800"/>
            <a:ext cx="2020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Ruido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400800" y="3703320"/>
            <a:ext cx="22402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5E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27"/>
          <p:cNvSpPr/>
          <p:nvPr/>
        </p:nvSpPr>
        <p:spPr>
          <a:xfrm>
            <a:off x="6455664" y="4672584"/>
            <a:ext cx="2130552" cy="301752"/>
          </a:xfrm>
          <a:prstGeom prst="rect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8"/>
          <p:cNvSpPr/>
          <p:nvPr/>
        </p:nvSpPr>
        <p:spPr>
          <a:xfrm>
            <a:off x="6510528" y="4754880"/>
            <a:ext cx="2020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Cambio de luz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8915400" y="3703320"/>
            <a:ext cx="22402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5E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0"/>
          <p:cNvSpPr/>
          <p:nvPr/>
        </p:nvSpPr>
        <p:spPr>
          <a:xfrm>
            <a:off x="8970264" y="4672584"/>
            <a:ext cx="2130552" cy="301752"/>
          </a:xfrm>
          <a:prstGeom prst="rect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1"/>
          <p:cNvSpPr/>
          <p:nvPr/>
        </p:nvSpPr>
        <p:spPr>
          <a:xfrm>
            <a:off x="9025128" y="4754880"/>
            <a:ext cx="2020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Movimiento rápido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6699CC"/>
                </a:solidFill>
              </a:rPr>
              <a:t>03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desarrollado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los vídeos al análisis cuantitativo y visual.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2057400" cy="1353312"/>
          </a:xfrm>
          <a:prstGeom prst="roundRect">
            <a:avLst>
              <a:gd name="adj" fmla="val 810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32104" y="200253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9BDF8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0392" y="2441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33"/>
                </a:solidFill>
              </a:rPr>
              <a:t>Vídeos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27706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sintéticos + reales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2551176"/>
            <a:ext cx="630936" cy="0"/>
          </a:xfrm>
          <a:prstGeom prst="line">
            <a:avLst/>
          </a:prstGeom>
          <a:noFill/>
          <a:ln w="2540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538728" y="1874520"/>
            <a:ext cx="2057400" cy="1353312"/>
          </a:xfrm>
          <a:prstGeom prst="roundRect">
            <a:avLst>
              <a:gd name="adj" fmla="val 810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85032" y="200253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9BDF8"/>
                </a:solidFill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03320" y="2441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33"/>
                </a:solidFill>
              </a:rPr>
              <a:t>Métodos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27706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FD + LK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2551176"/>
            <a:ext cx="630936" cy="0"/>
          </a:xfrm>
          <a:prstGeom prst="line">
            <a:avLst/>
          </a:prstGeom>
          <a:noFill/>
          <a:ln w="2540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391656" y="1874520"/>
            <a:ext cx="2057400" cy="1353312"/>
          </a:xfrm>
          <a:prstGeom prst="roundRect">
            <a:avLst>
              <a:gd name="adj" fmla="val 810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37960" y="200253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9BDF8"/>
                </a:solidFill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56248" y="2441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33"/>
                </a:solidFill>
              </a:rPr>
              <a:t>Métricas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27706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mediana · P95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22208" y="2551176"/>
            <a:ext cx="630936" cy="0"/>
          </a:xfrm>
          <a:prstGeom prst="line">
            <a:avLst/>
          </a:prstGeom>
          <a:noFill/>
          <a:ln w="2540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9244584" y="1874520"/>
            <a:ext cx="2057400" cy="1353312"/>
          </a:xfrm>
          <a:prstGeom prst="roundRect">
            <a:avLst>
              <a:gd name="adj" fmla="val 810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9390888" y="200253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9BDF8"/>
                </a:solidFill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409176" y="2441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33"/>
                </a:solidFill>
              </a:rPr>
              <a:t>Resultados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09176" y="27706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plots + CSV + </a:t>
            </a:r>
            <a:r>
              <a:rPr lang="en-US" sz="950" dirty="0" err="1">
                <a:solidFill>
                  <a:srgbClr val="64748B"/>
                </a:solidFill>
              </a:rPr>
              <a:t>vídeos</a:t>
            </a:r>
            <a:r>
              <a:rPr lang="en-US" sz="950" dirty="0">
                <a:solidFill>
                  <a:srgbClr val="64748B"/>
                </a:solidFill>
              </a:rPr>
              <a:t> </a:t>
            </a:r>
            <a:r>
              <a:rPr lang="en-US" sz="950" dirty="0" err="1">
                <a:solidFill>
                  <a:srgbClr val="64748B"/>
                </a:solidFill>
              </a:rPr>
              <a:t>procesados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5720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4718304"/>
            <a:ext cx="1965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63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+ 8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078992" y="5195621"/>
            <a:ext cx="1911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vídeos sintéticos y reales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45720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867912" y="4718304"/>
            <a:ext cx="1965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9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3895344" y="5195621"/>
            <a:ext cx="1911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algoritmos comparados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47104" y="45720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684264" y="4718304"/>
            <a:ext cx="1965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479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711696" y="5195621"/>
            <a:ext cx="1911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métricas por ejecución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63456" y="45720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9500616" y="4718304"/>
            <a:ext cx="1965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2C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9528048" y="5195621"/>
            <a:ext cx="1911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notebooks de análisis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6699CC"/>
                </a:solidFill>
              </a:rPr>
              <a:t>05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formas de mirar el movimiento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Regiones cambiantes frente a puntos característicos.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8463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CFEA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63CE"/>
                </a:solidFill>
              </a:rPr>
              <a:t>Diferencia de imágenes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71B33"/>
                </a:solidFill>
              </a:rPr>
              <a:t>|fotograma actual − anterior|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2971800"/>
            <a:ext cx="1024128" cy="777240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783080" y="31546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606040" y="3346704"/>
            <a:ext cx="685800" cy="0"/>
          </a:xfrm>
          <a:prstGeom prst="line">
            <a:avLst/>
          </a:prstGeom>
          <a:noFill/>
          <a:ln w="22860">
            <a:solidFill>
              <a:srgbClr val="39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456432" y="2971800"/>
            <a:ext cx="1024128" cy="777240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86200" y="31546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234440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Región + centroide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1417320"/>
            <a:ext cx="48463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CFEA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12280" y="17190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63CE"/>
                </a:solidFill>
              </a:rPr>
              <a:t>Lucas-Kanade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839712" y="233172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71B33"/>
                </a:solidFill>
              </a:rPr>
              <a:t>Puntos característicos + desplazamiento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60920" y="3063240"/>
            <a:ext cx="118872" cy="118872"/>
          </a:xfrm>
          <a:prstGeom prst="ellipse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7415784" y="3118104"/>
            <a:ext cx="356616" cy="0"/>
          </a:xfrm>
          <a:prstGeom prst="line">
            <a:avLst/>
          </a:prstGeom>
          <a:noFill/>
          <a:ln w="1397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074152" y="3118104"/>
            <a:ext cx="118872" cy="118872"/>
          </a:xfrm>
          <a:prstGeom prst="ellipse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129016" y="3172968"/>
            <a:ext cx="356616" cy="0"/>
          </a:xfrm>
          <a:prstGeom prst="line">
            <a:avLst/>
          </a:prstGeom>
          <a:noFill/>
          <a:ln w="1397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8787384" y="3063240"/>
            <a:ext cx="118872" cy="118872"/>
          </a:xfrm>
          <a:prstGeom prst="ellipse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842248" y="3118104"/>
            <a:ext cx="356616" cy="0"/>
          </a:xfrm>
          <a:prstGeom prst="line">
            <a:avLst/>
          </a:prstGeom>
          <a:noFill/>
          <a:ln w="1397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9500616" y="3118104"/>
            <a:ext cx="118872" cy="118872"/>
          </a:xfrm>
          <a:prstGeom prst="ellipse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9555480" y="3172968"/>
            <a:ext cx="356616" cy="0"/>
          </a:xfrm>
          <a:prstGeom prst="line">
            <a:avLst/>
          </a:prstGeom>
          <a:noFill/>
          <a:ln w="1397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7360920" y="3630168"/>
            <a:ext cx="118872" cy="118872"/>
          </a:xfrm>
          <a:prstGeom prst="ellipse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7415784" y="3685032"/>
            <a:ext cx="356616" cy="0"/>
          </a:xfrm>
          <a:prstGeom prst="line">
            <a:avLst/>
          </a:prstGeom>
          <a:noFill/>
          <a:ln w="1397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8074152" y="3685032"/>
            <a:ext cx="118872" cy="118872"/>
          </a:xfrm>
          <a:prstGeom prst="ellipse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8129016" y="3739896"/>
            <a:ext cx="356616" cy="0"/>
          </a:xfrm>
          <a:prstGeom prst="line">
            <a:avLst/>
          </a:prstGeom>
          <a:noFill/>
          <a:ln w="1397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8787384" y="3630168"/>
            <a:ext cx="118872" cy="118872"/>
          </a:xfrm>
          <a:prstGeom prst="ellipse">
            <a:avLst/>
          </a:prstGeom>
          <a:solidFill>
            <a:srgbClr val="39BDF8"/>
          </a:solidFill>
          <a:ln w="12700">
            <a:solidFill>
              <a:srgbClr val="39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8842248" y="3685032"/>
            <a:ext cx="356616" cy="0"/>
          </a:xfrm>
          <a:prstGeom prst="line">
            <a:avLst/>
          </a:prstGeom>
          <a:noFill/>
          <a:ln w="13970">
            <a:solidFill>
              <a:srgbClr val="0B63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949440" y="431596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Más estable si hay textura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070C0"/>
          </a:solidFill>
          <a:ln>
            <a:solidFill>
              <a:srgbClr val="3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060"/>
                </a:solidFill>
              </a:defRPr>
            </a:pPr>
            <a:r>
              <a:t>Cómo leer los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3A5F"/>
                </a:solidFill>
              </a:defRPr>
            </a:pPr>
            <a:r>
              <a:rPr dirty="0"/>
              <a:t>No </a:t>
            </a:r>
            <a:r>
              <a:rPr dirty="0" err="1"/>
              <a:t>miramos</a:t>
            </a:r>
            <a:r>
              <a:rPr dirty="0"/>
              <a:t> solo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detecta</a:t>
            </a:r>
            <a:r>
              <a:rPr dirty="0"/>
              <a:t>: </a:t>
            </a:r>
            <a:r>
              <a:rPr dirty="0" err="1"/>
              <a:t>miramos</a:t>
            </a:r>
            <a:r>
              <a:rPr dirty="0"/>
              <a:t> </a:t>
            </a:r>
            <a:r>
              <a:rPr dirty="0" err="1"/>
              <a:t>estabilidad</a:t>
            </a:r>
            <a:r>
              <a:rPr dirty="0"/>
              <a:t>,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puntuales</a:t>
            </a:r>
            <a:r>
              <a:rPr dirty="0"/>
              <a:t> y </a:t>
            </a:r>
            <a:r>
              <a:rPr dirty="0" err="1"/>
              <a:t>sensibilidad</a:t>
            </a:r>
            <a:r>
              <a:rPr dirty="0"/>
              <a:t> de la </a:t>
            </a:r>
            <a:r>
              <a:rPr dirty="0" err="1"/>
              <a:t>escena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691640" cy="3246120"/>
          </a:xfrm>
          <a:prstGeom prst="roundRect">
            <a:avLst/>
          </a:prstGeom>
          <a:solidFill>
            <a:srgbClr val="E1EEF9"/>
          </a:solidFill>
          <a:ln w="17780">
            <a:solidFill>
              <a:srgbClr val="66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417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/>
            </a:pPr>
            <a: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3060"/>
                </a:solidFill>
              </a:defRPr>
            </a:pPr>
            <a:r>
              <a:t>Mediana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148132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>
                <a:solidFill>
                  <a:srgbClr val="203A5F"/>
                </a:solidFill>
              </a:defRPr>
            </a:pPr>
            <a:r>
              <a:t>Comportamiento típico</a:t>
            </a:r>
            <a:br/>
            <a:r>
              <a:t>del desplazamiento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8591" y="1508760"/>
            <a:ext cx="1691640" cy="3246120"/>
          </a:xfrm>
          <a:prstGeom prst="roundRect">
            <a:avLst/>
          </a:prstGeom>
          <a:solidFill>
            <a:srgbClr val="D5E8F9"/>
          </a:solidFill>
          <a:ln w="17780">
            <a:solidFill>
              <a:srgbClr val="66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5751" y="1737360"/>
            <a:ext cx="1417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/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031" y="22677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3060"/>
                </a:solidFill>
              </a:defRPr>
            </a:pPr>
            <a:r>
              <a:t>P95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8319" y="2788920"/>
            <a:ext cx="148132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>
                <a:solidFill>
                  <a:srgbClr val="203A5F"/>
                </a:solidFill>
              </a:defRPr>
            </a:pPr>
            <a:r>
              <a:t>Saltos grandes</a:t>
            </a:r>
            <a:br/>
            <a:r>
              <a:t>sin depender del máximo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274" y="1508760"/>
            <a:ext cx="1691640" cy="3246120"/>
          </a:xfrm>
          <a:prstGeom prst="roundRect">
            <a:avLst/>
          </a:prstGeom>
          <a:solidFill>
            <a:srgbClr val="E1EEF9"/>
          </a:solidFill>
          <a:ln w="17780">
            <a:solidFill>
              <a:srgbClr val="66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434" y="1737360"/>
            <a:ext cx="1417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/>
            </a:pPr>
            <a:r>
              <a:t>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714" y="226771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3060"/>
                </a:solidFill>
              </a:defRPr>
            </a:pPr>
            <a:r>
              <a:t>Área FD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002" y="2788920"/>
            <a:ext cx="148132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>
                <a:solidFill>
                  <a:srgbClr val="203A5F"/>
                </a:solidFill>
              </a:defRPr>
            </a:pPr>
            <a:r>
              <a:t>Cuánto crece la región</a:t>
            </a:r>
            <a:br/>
            <a:r>
              <a:t>detectada como movimiento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214" y="1508760"/>
            <a:ext cx="1691640" cy="3246120"/>
          </a:xfrm>
          <a:prstGeom prst="roundRect">
            <a:avLst/>
          </a:prstGeom>
          <a:solidFill>
            <a:srgbClr val="D5E8F9"/>
          </a:solidFill>
          <a:ln w="17780">
            <a:solidFill>
              <a:srgbClr val="66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2374" y="1780856"/>
            <a:ext cx="1417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/>
            </a:pPr>
            <a:r>
              <a:rPr dirty="0"/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654" y="2212848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3060"/>
                </a:solidFill>
              </a:defRPr>
            </a:pPr>
            <a:r>
              <a:rPr dirty="0"/>
              <a:t>Puntos 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54" y="2669718"/>
            <a:ext cx="1481328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>
                <a:solidFill>
                  <a:srgbClr val="203A5F"/>
                </a:solidFill>
              </a:defRPr>
            </a:pPr>
            <a:r>
              <a:rPr dirty="0" err="1"/>
              <a:t>Cuántos</a:t>
            </a:r>
            <a:r>
              <a:rPr dirty="0"/>
              <a:t> puntos</a:t>
            </a:r>
            <a:br>
              <a:rPr dirty="0"/>
            </a:br>
            <a:r>
              <a:rPr dirty="0"/>
              <a:t>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seguir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5B9A5-84DB-E8C8-9E44-C4D73E46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950EAD-EB07-6DD6-25A7-BC9676CC655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070C0"/>
          </a:solidFill>
          <a:ln>
            <a:solidFill>
              <a:srgbClr val="3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E1D9A-7800-7E82-DCB3-E1B559CA7F36}"/>
              </a:ext>
            </a:extLst>
          </p:cNvPr>
          <p:cNvSpPr txBox="1"/>
          <p:nvPr/>
        </p:nvSpPr>
        <p:spPr>
          <a:xfrm>
            <a:off x="685800" y="274320"/>
            <a:ext cx="32175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060"/>
                </a:solidFill>
              </a:defRPr>
            </a:pPr>
            <a:r>
              <a:rPr lang="es-ES" dirty="0"/>
              <a:t>Resultados sintéticos</a:t>
            </a:r>
            <a:endParaRPr dirty="0"/>
          </a:p>
        </p:txBody>
      </p:sp>
      <p:pic>
        <p:nvPicPr>
          <p:cNvPr id="23" name="frame_difference_synthetic_clean_1">
            <a:hlinkClick r:id="" action="ppaction://media"/>
            <a:extLst>
              <a:ext uri="{FF2B5EF4-FFF2-40B4-BE49-F238E27FC236}">
                <a16:creationId xmlns:a16="http://schemas.microsoft.com/office/drawing/2014/main" id="{10ACF80C-D721-A106-5E62-D2EFA0D6CB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800" y="1913822"/>
            <a:ext cx="4684581" cy="2635077"/>
          </a:xfrm>
          <a:prstGeom prst="roundRect">
            <a:avLst/>
          </a:prstGeom>
        </p:spPr>
      </p:pic>
      <p:pic>
        <p:nvPicPr>
          <p:cNvPr id="24" name="lucas_kanade_synthetic_clean_1">
            <a:hlinkClick r:id="" action="ppaction://media"/>
            <a:extLst>
              <a:ext uri="{FF2B5EF4-FFF2-40B4-BE49-F238E27FC236}">
                <a16:creationId xmlns:a16="http://schemas.microsoft.com/office/drawing/2014/main" id="{A53CB5B3-568A-ECE0-38A1-EC59A229F3E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84325" y="1913822"/>
            <a:ext cx="4684581" cy="2635077"/>
          </a:xfrm>
          <a:prstGeom prst="roundRect">
            <a:avLst/>
          </a:prstGeom>
        </p:spPr>
      </p:pic>
      <p:sp>
        <p:nvSpPr>
          <p:cNvPr id="25" name="Text 2">
            <a:extLst>
              <a:ext uri="{FF2B5EF4-FFF2-40B4-BE49-F238E27FC236}">
                <a16:creationId xmlns:a16="http://schemas.microsoft.com/office/drawing/2014/main" id="{9153890C-0CE4-C2A2-68B0-5832B6C7773F}"/>
              </a:ext>
            </a:extLst>
          </p:cNvPr>
          <p:cNvSpPr/>
          <p:nvPr/>
        </p:nvSpPr>
        <p:spPr>
          <a:xfrm>
            <a:off x="5433266" y="141090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14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67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96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967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5B9A5-84DB-E8C8-9E44-C4D73E46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950EAD-EB07-6DD6-25A7-BC9676CC655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070C0"/>
          </a:solidFill>
          <a:ln>
            <a:solidFill>
              <a:srgbClr val="3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E1D9A-7800-7E82-DCB3-E1B559CA7F36}"/>
              </a:ext>
            </a:extLst>
          </p:cNvPr>
          <p:cNvSpPr txBox="1"/>
          <p:nvPr/>
        </p:nvSpPr>
        <p:spPr>
          <a:xfrm>
            <a:off x="685800" y="274320"/>
            <a:ext cx="32175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060"/>
                </a:solidFill>
              </a:defRPr>
            </a:pPr>
            <a:r>
              <a:rPr lang="es-ES" dirty="0"/>
              <a:t>Resultados sintéticos</a:t>
            </a:r>
            <a:endParaRPr dirty="0"/>
          </a:p>
        </p:txBody>
      </p:sp>
      <p:pic>
        <p:nvPicPr>
          <p:cNvPr id="7" name="frame_difference_synthetic_light_change_1">
            <a:hlinkClick r:id="" action="ppaction://media"/>
            <a:extLst>
              <a:ext uri="{FF2B5EF4-FFF2-40B4-BE49-F238E27FC236}">
                <a16:creationId xmlns:a16="http://schemas.microsoft.com/office/drawing/2014/main" id="{EEAC0235-A474-F964-376A-41276F19C6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3464" y="2183039"/>
            <a:ext cx="4413421" cy="2482549"/>
          </a:xfrm>
          <a:prstGeom prst="roundRect">
            <a:avLst/>
          </a:prstGeom>
        </p:spPr>
      </p:pic>
      <p:pic>
        <p:nvPicPr>
          <p:cNvPr id="8" name="lucas_kanade_synthetic_light_change_1">
            <a:hlinkClick r:id="" action="ppaction://media"/>
            <a:extLst>
              <a:ext uri="{FF2B5EF4-FFF2-40B4-BE49-F238E27FC236}">
                <a16:creationId xmlns:a16="http://schemas.microsoft.com/office/drawing/2014/main" id="{CA73D485-9E00-A817-CC68-0DE99EAA5D6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09038" y="2187726"/>
            <a:ext cx="4413420" cy="2482548"/>
          </a:xfrm>
          <a:prstGeom prst="round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0B4A556-C7D2-3B12-E43C-5E1BCEC07BD2}"/>
              </a:ext>
            </a:extLst>
          </p:cNvPr>
          <p:cNvSpPr/>
          <p:nvPr/>
        </p:nvSpPr>
        <p:spPr>
          <a:xfrm>
            <a:off x="4996661" y="149785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de luz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86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96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9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sintéticos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56519" y="1234440"/>
            <a:ext cx="5766485" cy="3889495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51" y="2058389"/>
            <a:ext cx="5179405" cy="2554801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085B4A8-A22C-C08D-CCB2-C60D9C42A414}"/>
              </a:ext>
            </a:extLst>
          </p:cNvPr>
          <p:cNvSpPr/>
          <p:nvPr/>
        </p:nvSpPr>
        <p:spPr>
          <a:xfrm>
            <a:off x="6268996" y="1234440"/>
            <a:ext cx="5766485" cy="3889495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reales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549640" y="202996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6FF"/>
                </a:solidFill>
              </a:rPr>
              <a:t>mantiene valores bajos</a:t>
            </a:r>
            <a:endParaRPr lang="en-US" sz="1000" dirty="0"/>
          </a:p>
        </p:txBody>
      </p:sp>
      <p:pic>
        <p:nvPicPr>
          <p:cNvPr id="7" name="frame_difference_real_fast_1">
            <a:hlinkClick r:id="" action="ppaction://media"/>
            <a:extLst>
              <a:ext uri="{FF2B5EF4-FFF2-40B4-BE49-F238E27FC236}">
                <a16:creationId xmlns:a16="http://schemas.microsoft.com/office/drawing/2014/main" id="{CB9F7962-792E-1B3D-D0CF-2487D0D707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62877" y="1845358"/>
            <a:ext cx="5312491" cy="2988276"/>
          </a:xfrm>
          <a:prstGeom prst="roundRect">
            <a:avLst/>
          </a:prstGeom>
        </p:spPr>
      </p:pic>
      <p:pic>
        <p:nvPicPr>
          <p:cNvPr id="18" name="lucas_kanade_real_fast_1">
            <a:hlinkClick r:id="" action="ppaction://media"/>
            <a:extLst>
              <a:ext uri="{FF2B5EF4-FFF2-40B4-BE49-F238E27FC236}">
                <a16:creationId xmlns:a16="http://schemas.microsoft.com/office/drawing/2014/main" id="{4B1881F3-8993-64CA-AFAC-A7E0FB3DEB4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261261" y="1881636"/>
            <a:ext cx="5247996" cy="2951998"/>
          </a:xfrm>
          <a:prstGeom prst="round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7FD5A8F0-8528-7FBE-B1E2-871F10A1C013}"/>
              </a:ext>
            </a:extLst>
          </p:cNvPr>
          <p:cNvSpPr/>
          <p:nvPr/>
        </p:nvSpPr>
        <p:spPr>
          <a:xfrm>
            <a:off x="5243796" y="1230099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</a:t>
            </a:r>
            <a:r>
              <a:rPr lang="en-US" b="1" dirty="0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rápido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7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16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1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reales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549640" y="202996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6FF"/>
                </a:solidFill>
              </a:rPr>
              <a:t>mantiene valores bajos</a:t>
            </a:r>
            <a:endParaRPr lang="en-US" sz="1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BEA5DEF8-83CF-6CD0-B4C6-146C2F432947}"/>
              </a:ext>
            </a:extLst>
          </p:cNvPr>
          <p:cNvSpPr/>
          <p:nvPr/>
        </p:nvSpPr>
        <p:spPr>
          <a:xfrm>
            <a:off x="5243796" y="1464337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Ruido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766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43E94-C8AB-C30A-F05E-36A459C4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B5FED0-9142-CB6E-9FFA-31ABB94970E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CF4750-C617-670C-CB08-FE5771B22639}"/>
              </a:ext>
            </a:extLst>
          </p:cNvPr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reales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AD41AEB-1ADB-A88D-85E9-941E1305ECA3}"/>
              </a:ext>
            </a:extLst>
          </p:cNvPr>
          <p:cNvSpPr/>
          <p:nvPr/>
        </p:nvSpPr>
        <p:spPr>
          <a:xfrm>
            <a:off x="109865" y="1325880"/>
            <a:ext cx="5986135" cy="3517638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983B6AB-1922-C6E6-A632-A937040470B6}"/>
              </a:ext>
            </a:extLst>
          </p:cNvPr>
          <p:cNvSpPr/>
          <p:nvPr/>
        </p:nvSpPr>
        <p:spPr>
          <a:xfrm>
            <a:off x="8549640" y="202996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6FF"/>
                </a:solidFill>
              </a:rPr>
              <a:t>mantiene valores bajos</a:t>
            </a:r>
            <a:endParaRPr lang="en-US" sz="1000" dirty="0"/>
          </a:p>
        </p:txBody>
      </p:sp>
      <p:pic>
        <p:nvPicPr>
          <p:cNvPr id="17" name="Picture 16" descr="real_median_repo.png">
            <a:extLst>
              <a:ext uri="{FF2B5EF4-FFF2-40B4-BE49-F238E27FC236}">
                <a16:creationId xmlns:a16="http://schemas.microsoft.com/office/drawing/2014/main" id="{CED23AC5-109F-ED55-C93A-F8BD58727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80" y="1802415"/>
            <a:ext cx="5664945" cy="2794299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4FEA1F18-3A65-2AA3-BB4E-7FDBA9B02667}"/>
              </a:ext>
            </a:extLst>
          </p:cNvPr>
          <p:cNvSpPr/>
          <p:nvPr/>
        </p:nvSpPr>
        <p:spPr>
          <a:xfrm>
            <a:off x="6200316" y="1325880"/>
            <a:ext cx="5695126" cy="3517638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8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6699CC"/>
                </a:solidFill>
              </a:rPr>
              <a:t>11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demuestra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Conclusiones para una aplicación real de percepción.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108960" cy="3977640"/>
          </a:xfrm>
          <a:prstGeom prst="roundRect">
            <a:avLst>
              <a:gd name="adj" fmla="val 4706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BDF8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FD es simple y rápida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5156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6FF"/>
                </a:solidFill>
              </a:rPr>
              <a:t>Útil para detectar actividad, pero sensible a luz y sombras.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108960" cy="3977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A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63CE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71B33"/>
                </a:solidFill>
              </a:rPr>
              <a:t>LK es más estable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80060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Sigue puntos característicos, no el objeto completo.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3108960" cy="3977640"/>
          </a:xfrm>
          <a:prstGeom prst="roundRect">
            <a:avLst>
              <a:gd name="adj" fmla="val 4706"/>
            </a:avLst>
          </a:prstGeom>
          <a:solidFill>
            <a:srgbClr val="EAF6FF"/>
          </a:solidFill>
          <a:ln w="12700">
            <a:solidFill>
              <a:srgbClr val="CFEA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503920" y="1691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63CE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4964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71B33"/>
                </a:solidFill>
              </a:rPr>
              <a:t>La escena manda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54964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El rendimiento depende de textura, luz, ruido y velocidad.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98932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3CE"/>
                </a:solidFill>
              </a:rPr>
              <a:t>Próximo paso: combinar detección de regiones + seguimiento de puntos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630</Words>
  <Application>Microsoft Office PowerPoint</Application>
  <PresentationFormat>Panorámica</PresentationFormat>
  <Paragraphs>147</Paragraphs>
  <Slides>16</Slides>
  <Notes>13</Notes>
  <HiddenSlides>0</HiddenSlides>
  <MMClips>6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Percepción en Automática y Robótica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Seguimiento visual de objetos móviles en vídeo</dc:title>
  <dc:subject>Seguimiento visual de objetos móviles</dc:subject>
  <dc:creator>Gloria León y María Leal</dc:creator>
  <cp:lastModifiedBy>GLORIA LEON LAGO</cp:lastModifiedBy>
  <cp:revision>3</cp:revision>
  <dcterms:created xsi:type="dcterms:W3CDTF">2026-05-25T12:20:48Z</dcterms:created>
  <dcterms:modified xsi:type="dcterms:W3CDTF">2026-05-26T23:40:50Z</dcterms:modified>
</cp:coreProperties>
</file>